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194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32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195" name="PlaceHolder 3"/>
          <p:cNvSpPr>
            <a:spLocks noGrp="1"/>
          </p:cNvSpPr>
          <p:nvPr>
            <p:ph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IN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196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IN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197" name="PlaceHolder 5"/>
          <p:cNvSpPr>
            <a:spLocks noGrp="1"/>
          </p:cNvSpPr>
          <p:nvPr>
            <p:ph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AEDD4DCD-6CB5-4043-8F36-D8C3FBC3CB68}" type="slidenum">
              <a:rPr lang="en-IN" sz="1400">
                <a:latin typeface="Times New Roman"/>
              </a:r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CustomShape 1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CustomShape 2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CustomShape 2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1"/>
          <p:cNvSpPr/>
          <p:nvPr/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6" name="Picture 35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37" name="Picture 36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72" name="Picture 71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73" name="Picture 72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Picture 130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132" name="Picture 131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1166760" y="6248520"/>
            <a:ext cx="1904760" cy="45684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ustomShape 2"/>
          <p:cNvSpPr/>
          <p:nvPr/>
        </p:nvSpPr>
        <p:spPr>
          <a:xfrm>
            <a:off x="3581280" y="6248520"/>
            <a:ext cx="2895480" cy="456840"/>
          </a:xfrm>
          <a:prstGeom prst="rect">
            <a:avLst/>
          </a:prstGeom>
          <a:noFill/>
          <a:ln>
            <a:noFill/>
          </a:ln>
        </p:spPr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1172880" y="410040"/>
            <a:ext cx="7762320" cy="1227240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r>
              <a:rPr lang="en-IN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IN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IN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IN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 flipH="1">
            <a:off x="42120" y="7920"/>
            <a:ext cx="374400" cy="6806520"/>
          </a:xfrm>
          <a:prstGeom prst="rect">
            <a:avLst/>
          </a:prstGeom>
          <a:solidFill>
            <a:srgbClr val="0099CC"/>
          </a:solidFill>
          <a:ln>
            <a:noFill/>
          </a:ln>
        </p:spPr>
      </p:sp>
      <p:sp>
        <p:nvSpPr>
          <p:cNvPr id="75" name="CustomShape 2"/>
          <p:cNvSpPr/>
          <p:nvPr/>
        </p:nvSpPr>
        <p:spPr>
          <a:xfrm flipH="1">
            <a:off x="42120" y="1715400"/>
            <a:ext cx="374400" cy="489960"/>
          </a:xfrm>
          <a:prstGeom prst="rect">
            <a:avLst/>
          </a:prstGeom>
          <a:solidFill>
            <a:srgbClr val="5490A8"/>
          </a:solidFill>
          <a:ln>
            <a:noFill/>
          </a:ln>
        </p:spPr>
      </p:sp>
      <p:sp>
        <p:nvSpPr>
          <p:cNvPr id="76" name="CustomShape 3"/>
          <p:cNvSpPr/>
          <p:nvPr/>
        </p:nvSpPr>
        <p:spPr>
          <a:xfrm flipH="1">
            <a:off x="43560" y="1304640"/>
            <a:ext cx="369720" cy="492840"/>
          </a:xfrm>
          <a:prstGeom prst="rect">
            <a:avLst/>
          </a:prstGeom>
          <a:solidFill>
            <a:srgbClr val="E1E1B7"/>
          </a:solidFill>
          <a:ln>
            <a:noFill/>
          </a:ln>
        </p:spPr>
      </p:sp>
      <p:sp>
        <p:nvSpPr>
          <p:cNvPr id="77" name="CustomShape 4"/>
          <p:cNvSpPr/>
          <p:nvPr/>
        </p:nvSpPr>
        <p:spPr>
          <a:xfrm flipH="1">
            <a:off x="43560" y="169560"/>
            <a:ext cx="369720" cy="294480"/>
          </a:xfrm>
          <a:prstGeom prst="rect">
            <a:avLst/>
          </a:prstGeom>
          <a:solidFill>
            <a:srgbClr val="5490A8"/>
          </a:solidFill>
          <a:ln>
            <a:noFill/>
          </a:ln>
        </p:spPr>
      </p:sp>
      <p:sp>
        <p:nvSpPr>
          <p:cNvPr id="78" name="CustomShape 5"/>
          <p:cNvSpPr/>
          <p:nvPr/>
        </p:nvSpPr>
        <p:spPr>
          <a:xfrm flipH="1">
            <a:off x="42120" y="1007640"/>
            <a:ext cx="374400" cy="33732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79" name="CustomShape 6"/>
          <p:cNvSpPr/>
          <p:nvPr/>
        </p:nvSpPr>
        <p:spPr>
          <a:xfrm flipH="1">
            <a:off x="42120" y="704520"/>
            <a:ext cx="374400" cy="421560"/>
          </a:xfrm>
          <a:prstGeom prst="rect">
            <a:avLst/>
          </a:prstGeom>
          <a:solidFill>
            <a:srgbClr val="3366CC"/>
          </a:solidFill>
          <a:ln>
            <a:noFill/>
          </a:ln>
        </p:spPr>
      </p:sp>
      <p:sp>
        <p:nvSpPr>
          <p:cNvPr id="80" name="CustomShape 7"/>
          <p:cNvSpPr/>
          <p:nvPr/>
        </p:nvSpPr>
        <p:spPr>
          <a:xfrm flipH="1">
            <a:off x="46800" y="383760"/>
            <a:ext cx="379080" cy="3661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81" name="CustomShape 8"/>
          <p:cNvSpPr/>
          <p:nvPr/>
        </p:nvSpPr>
        <p:spPr>
          <a:xfrm flipH="1">
            <a:off x="11880" y="3929400"/>
            <a:ext cx="371160" cy="488520"/>
          </a:xfrm>
          <a:prstGeom prst="rect">
            <a:avLst/>
          </a:prstGeom>
          <a:solidFill>
            <a:srgbClr val="5490A8"/>
          </a:solidFill>
          <a:ln>
            <a:noFill/>
          </a:ln>
        </p:spPr>
      </p:sp>
      <p:sp>
        <p:nvSpPr>
          <p:cNvPr id="82" name="CustomShape 9"/>
          <p:cNvSpPr/>
          <p:nvPr/>
        </p:nvSpPr>
        <p:spPr>
          <a:xfrm flipH="1">
            <a:off x="37440" y="3539160"/>
            <a:ext cx="369360" cy="48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3" name="CustomShape 10"/>
          <p:cNvSpPr/>
          <p:nvPr/>
        </p:nvSpPr>
        <p:spPr>
          <a:xfrm flipH="1">
            <a:off x="37440" y="2413800"/>
            <a:ext cx="369360" cy="29448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84" name="CustomShape 11"/>
          <p:cNvSpPr/>
          <p:nvPr/>
        </p:nvSpPr>
        <p:spPr>
          <a:xfrm flipH="1">
            <a:off x="37440" y="3240720"/>
            <a:ext cx="369360" cy="335880"/>
          </a:xfrm>
          <a:prstGeom prst="rect">
            <a:avLst/>
          </a:prstGeom>
          <a:solidFill>
            <a:srgbClr val="E1E1B7"/>
          </a:solidFill>
          <a:ln>
            <a:noFill/>
          </a:ln>
        </p:spPr>
      </p:sp>
      <p:sp>
        <p:nvSpPr>
          <p:cNvPr id="85" name="CustomShape 12"/>
          <p:cNvSpPr/>
          <p:nvPr/>
        </p:nvSpPr>
        <p:spPr>
          <a:xfrm flipH="1">
            <a:off x="37440" y="2942280"/>
            <a:ext cx="369360" cy="416520"/>
          </a:xfrm>
          <a:prstGeom prst="rect">
            <a:avLst/>
          </a:prstGeom>
          <a:solidFill>
            <a:srgbClr val="3366CC"/>
          </a:solidFill>
          <a:ln>
            <a:noFill/>
          </a:ln>
        </p:spPr>
      </p:sp>
      <p:sp>
        <p:nvSpPr>
          <p:cNvPr id="86" name="CustomShape 13"/>
          <p:cNvSpPr/>
          <p:nvPr/>
        </p:nvSpPr>
        <p:spPr>
          <a:xfrm flipH="1">
            <a:off x="40320" y="2626560"/>
            <a:ext cx="379080" cy="366120"/>
          </a:xfrm>
          <a:prstGeom prst="rect">
            <a:avLst/>
          </a:prstGeom>
          <a:solidFill>
            <a:srgbClr val="99CCFF"/>
          </a:solidFill>
          <a:ln>
            <a:noFill/>
          </a:ln>
        </p:spPr>
      </p:sp>
      <p:sp>
        <p:nvSpPr>
          <p:cNvPr id="87" name="CustomShape 14"/>
          <p:cNvSpPr/>
          <p:nvPr/>
        </p:nvSpPr>
        <p:spPr>
          <a:xfrm flipH="1">
            <a:off x="26280" y="4967280"/>
            <a:ext cx="367920" cy="488520"/>
          </a:xfrm>
          <a:prstGeom prst="rect">
            <a:avLst/>
          </a:prstGeom>
          <a:solidFill>
            <a:srgbClr val="99CCFF"/>
          </a:solidFill>
          <a:ln>
            <a:noFill/>
          </a:ln>
        </p:spPr>
      </p:sp>
      <p:sp>
        <p:nvSpPr>
          <p:cNvPr id="88" name="CustomShape 15"/>
          <p:cNvSpPr/>
          <p:nvPr/>
        </p:nvSpPr>
        <p:spPr>
          <a:xfrm flipH="1">
            <a:off x="24480" y="4550040"/>
            <a:ext cx="371160" cy="49284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89" name="CustomShape 16"/>
          <p:cNvSpPr/>
          <p:nvPr/>
        </p:nvSpPr>
        <p:spPr>
          <a:xfrm flipH="1">
            <a:off x="19800" y="5655960"/>
            <a:ext cx="371160" cy="293040"/>
          </a:xfrm>
          <a:prstGeom prst="rect">
            <a:avLst/>
          </a:prstGeom>
          <a:solidFill>
            <a:srgbClr val="E1E1B7"/>
          </a:solidFill>
          <a:ln>
            <a:noFill/>
          </a:ln>
        </p:spPr>
      </p:sp>
      <p:sp>
        <p:nvSpPr>
          <p:cNvPr id="90" name="CustomShape 17"/>
          <p:cNvSpPr/>
          <p:nvPr/>
        </p:nvSpPr>
        <p:spPr>
          <a:xfrm rot="5400000" flipH="1">
            <a:off x="55440" y="6488640"/>
            <a:ext cx="337680" cy="37116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1" name="CustomShape 18"/>
          <p:cNvSpPr/>
          <p:nvPr/>
        </p:nvSpPr>
        <p:spPr>
          <a:xfrm flipH="1">
            <a:off x="24480" y="6188040"/>
            <a:ext cx="369720" cy="418320"/>
          </a:xfrm>
          <a:prstGeom prst="rect">
            <a:avLst/>
          </a:prstGeom>
          <a:solidFill>
            <a:srgbClr val="3366CC"/>
          </a:solidFill>
          <a:ln>
            <a:noFill/>
          </a:ln>
        </p:spPr>
      </p:sp>
      <p:sp>
        <p:nvSpPr>
          <p:cNvPr id="92" name="CustomShape 19"/>
          <p:cNvSpPr/>
          <p:nvPr/>
        </p:nvSpPr>
        <p:spPr>
          <a:xfrm flipH="1">
            <a:off x="5400" y="5879880"/>
            <a:ext cx="380880" cy="3661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93" name="CustomShape 20"/>
          <p:cNvSpPr/>
          <p:nvPr/>
        </p:nvSpPr>
        <p:spPr>
          <a:xfrm rot="5400000" flipH="1">
            <a:off x="-3283920" y="3291120"/>
            <a:ext cx="6835320" cy="26928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67676"/>
              </a:gs>
            </a:gsLst>
            <a:lin ang="0"/>
          </a:gradFill>
          <a:ln>
            <a:noFill/>
          </a:ln>
        </p:spPr>
      </p:sp>
      <p:sp>
        <p:nvSpPr>
          <p:cNvPr id="94" name="CustomShape 21"/>
          <p:cNvSpPr/>
          <p:nvPr/>
        </p:nvSpPr>
        <p:spPr>
          <a:xfrm rot="5400000" flipH="1">
            <a:off x="-3028680" y="3353760"/>
            <a:ext cx="6833880" cy="117000"/>
          </a:xfrm>
          <a:prstGeom prst="rect">
            <a:avLst/>
          </a:prstGeom>
          <a:gradFill>
            <a:gsLst>
              <a:gs pos="0">
                <a:srgbClr val="767676"/>
              </a:gs>
              <a:gs pos="100000">
                <a:srgbClr val="FFFFFF"/>
              </a:gs>
            </a:gsLst>
            <a:lin ang="0"/>
          </a:gradFill>
          <a:ln>
            <a:noFill/>
          </a:ln>
        </p:spPr>
      </p:sp>
      <p:sp>
        <p:nvSpPr>
          <p:cNvPr id="95" name="CustomShape 22"/>
          <p:cNvSpPr/>
          <p:nvPr/>
        </p:nvSpPr>
        <p:spPr>
          <a:xfrm>
            <a:off x="1173240" y="6265800"/>
            <a:ext cx="1904400" cy="45684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CustomShape 23"/>
          <p:cNvSpPr/>
          <p:nvPr/>
        </p:nvSpPr>
        <p:spPr>
          <a:xfrm>
            <a:off x="3581280" y="6248520"/>
            <a:ext cx="2895480" cy="45684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PlaceHolder 2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IN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98" name="PlaceHolder 2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IN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685800" y="1447920"/>
            <a:ext cx="7873738" cy="4319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80000"/>
            </a:pPr>
            <a:r>
              <a:rPr lang="en-IN" sz="5400" dirty="0">
                <a:latin typeface="Arial"/>
              </a:rPr>
              <a:t>E-mail Security </a:t>
            </a:r>
            <a:r>
              <a:rPr lang="en-IN" sz="4400" dirty="0">
                <a:solidFill>
                  <a:srgbClr val="000000"/>
                </a:solidFill>
                <a:latin typeface="Arial"/>
                <a:ea typeface="Droid Sans Fallback"/>
              </a:rPr>
              <a:t>(S/MIME)</a:t>
            </a:r>
            <a:endParaRPr sz="4400" dirty="0"/>
          </a:p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200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201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202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203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204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205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206" name="CustomShape 8"/>
          <p:cNvSpPr/>
          <p:nvPr/>
        </p:nvSpPr>
        <p:spPr>
          <a:xfrm>
            <a:off x="1444658" y="431280"/>
            <a:ext cx="4752720" cy="5806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3200" b="1" i="1" dirty="0">
                <a:solidFill>
                  <a:srgbClr val="FF0000"/>
                </a:solidFill>
                <a:latin typeface="Times New Roman"/>
              </a:rPr>
              <a:t> E-mail Architecture</a:t>
            </a:r>
            <a:endParaRPr dirty="0"/>
          </a:p>
        </p:txBody>
      </p:sp>
      <p:pic>
        <p:nvPicPr>
          <p:cNvPr id="207" name="Picture 206"/>
          <p:cNvPicPr/>
          <p:nvPr/>
        </p:nvPicPr>
        <p:blipFill>
          <a:blip r:embed="rId3"/>
          <a:stretch>
            <a:fillRect/>
          </a:stretch>
        </p:blipFill>
        <p:spPr>
          <a:xfrm>
            <a:off x="1143000" y="1468507"/>
            <a:ext cx="6955920" cy="4731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E-mail Security</a:t>
            </a:r>
            <a:endParaRPr/>
          </a:p>
        </p:txBody>
      </p:sp>
      <p:sp>
        <p:nvSpPr>
          <p:cNvPr id="209" name="CustomShape 2"/>
          <p:cNvSpPr/>
          <p:nvPr/>
        </p:nvSpPr>
        <p:spPr>
          <a:xfrm>
            <a:off x="685800" y="167652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latin typeface="Arial"/>
              </a:rPr>
              <a:t>E-mail is one of the most widely used network services 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killer application of the Internet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solidFill>
                  <a:srgbClr val="000000"/>
                </a:solidFill>
                <a:latin typeface="Arial"/>
                <a:ea typeface="Droid Sans Fallback"/>
              </a:rPr>
              <a:t>Normally message contents not secured 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Can be read/modified either in transit or at destination by the attacker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solidFill>
                  <a:srgbClr val="000000"/>
                </a:solidFill>
                <a:latin typeface="Arial"/>
                <a:ea typeface="Droid Sans Fallback"/>
              </a:rPr>
              <a:t>E-mail service is like postcard service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just pick it and read it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Email Security Enhancements</a:t>
            </a:r>
            <a:endParaRPr/>
          </a:p>
        </p:txBody>
      </p:sp>
      <p:sp>
        <p:nvSpPr>
          <p:cNvPr id="211" name="CustomShape 2"/>
          <p:cNvSpPr/>
          <p:nvPr/>
        </p:nvSpPr>
        <p:spPr>
          <a:xfrm>
            <a:off x="838080" y="167652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latin typeface="Arial"/>
              </a:rPr>
              <a:t>confidentiality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protection from disclosure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solidFill>
                  <a:srgbClr val="000000"/>
                </a:solidFill>
                <a:latin typeface="Arial"/>
                <a:ea typeface="Droid Sans Fallback"/>
              </a:rPr>
              <a:t>authentication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of sender of message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solidFill>
                  <a:srgbClr val="000000"/>
                </a:solidFill>
                <a:latin typeface="Arial"/>
                <a:ea typeface="Droid Sans Fallback"/>
              </a:rPr>
              <a:t>message integrity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protection from modification 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>
                <a:solidFill>
                  <a:srgbClr val="000000"/>
                </a:solidFill>
                <a:latin typeface="Arial"/>
                <a:ea typeface="Droid Sans Fallback"/>
              </a:rPr>
              <a:t>non-repudiation of origin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protection from denial by sender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1173240" y="457200"/>
            <a:ext cx="7772040" cy="899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S/MIME</a:t>
            </a:r>
            <a:endParaRPr/>
          </a:p>
        </p:txBody>
      </p:sp>
      <p:sp>
        <p:nvSpPr>
          <p:cNvPr id="252" name="CustomShape 2"/>
          <p:cNvSpPr/>
          <p:nvPr/>
        </p:nvSpPr>
        <p:spPr>
          <a:xfrm>
            <a:off x="714240" y="1285920"/>
            <a:ext cx="7772040" cy="4571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Secure/Multipurpose Internet Mail Extensions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A standard way for email encryption and signing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IETF effort (RFCs 2632, 2633 – for version 3.0; RFCs 3850, 3851 for version 3.1; 5750, 5751 for version 3.2)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Industry support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Not a standalone software, a system that is to be supported by email clients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such as MS Outlook and Thunderbird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S/MIME handles digital signatures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Also provides encryption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Quick E-mail History</a:t>
            </a:r>
            <a:endParaRPr/>
          </a:p>
        </p:txBody>
      </p:sp>
      <p:sp>
        <p:nvSpPr>
          <p:cNvPr id="254" name="CustomShape 2"/>
          <p:cNvSpPr/>
          <p:nvPr/>
        </p:nvSpPr>
        <p:spPr>
          <a:xfrm>
            <a:off x="838080" y="167652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SMTP and RFC 822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only ASCII messages (7-bit)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MIME (Multipurpose Internet Mail Extensions)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content type</a:t>
            </a:r>
            <a:endParaRPr/>
          </a:p>
          <a:p>
            <a:pPr lvl="2">
              <a:lnSpc>
                <a:spcPct val="90000"/>
              </a:lnSpc>
              <a:buFont typeface="Arial"/>
              <a:buChar char="•"/>
            </a:pPr>
            <a:r>
              <a:rPr lang="en-IN" sz="2000">
                <a:solidFill>
                  <a:srgbClr val="000000"/>
                </a:solidFill>
                <a:latin typeface="Arial"/>
                <a:ea typeface="Droid Sans Fallback"/>
              </a:rPr>
              <a:t>Almost any type of information can appear in an email message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transfer encoding</a:t>
            </a:r>
            <a:endParaRPr/>
          </a:p>
          <a:p>
            <a:pPr lvl="2">
              <a:lnSpc>
                <a:spcPct val="90000"/>
              </a:lnSpc>
              <a:buFont typeface="Arial"/>
              <a:buChar char="•"/>
            </a:pPr>
            <a:r>
              <a:rPr lang="en-IN" sz="2000">
                <a:solidFill>
                  <a:srgbClr val="000000"/>
                </a:solidFill>
                <a:latin typeface="Arial"/>
                <a:ea typeface="Droid Sans Fallback"/>
              </a:rPr>
              <a:t>specifies how the message body is encoded into textual form (radix64 is common)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S/MIME: Secure MIME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new content types, like signature, encrypted data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000">
                <a:solidFill>
                  <a:srgbClr val="003366"/>
                </a:solidFill>
                <a:latin typeface="Times New Roman"/>
              </a:rPr>
              <a:t>S/MIME Cryptographic Algorithms</a:t>
            </a:r>
            <a:endParaRPr/>
          </a:p>
        </p:txBody>
      </p:sp>
      <p:sp>
        <p:nvSpPr>
          <p:cNvPr id="256" name="CustomShape 2"/>
          <p:cNvSpPr/>
          <p:nvPr/>
        </p:nvSpPr>
        <p:spPr>
          <a:xfrm>
            <a:off x="838080" y="182880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hash functions: SHA-1 &amp; MD5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digital signatures: DSS &amp; RSA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session key encryption: ElGamal &amp; RSA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message encryption: Triple-DES, AES and others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sender should know the capabilities of the receiving entity (public announcement or previously received messages from receiver)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otherwise sender takes a risk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Scope of S/MIME Security </a:t>
            </a:r>
            <a:endParaRPr/>
          </a:p>
        </p:txBody>
      </p:sp>
      <p:sp>
        <p:nvSpPr>
          <p:cNvPr id="258" name="CustomShape 2"/>
          <p:cNvSpPr/>
          <p:nvPr/>
        </p:nvSpPr>
        <p:spPr>
          <a:xfrm>
            <a:off x="914400" y="175248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S/MIME secures a MIME entity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a MIME entity is entire message except the headers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so the header is not secured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First MIME message is prepared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This message and other security related data (algorithm identifiers, certificates, etc.) are processed by S/MIME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and packed as one of the S/MIME content type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260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261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262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263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264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265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266" name="CustomShape 8"/>
          <p:cNvSpPr/>
          <p:nvPr/>
        </p:nvSpPr>
        <p:spPr>
          <a:xfrm>
            <a:off x="2438280" y="1447920"/>
            <a:ext cx="2901600" cy="4582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3333CC"/>
                </a:solidFill>
                <a:latin typeface="Times New Roman"/>
              </a:rPr>
              <a:t>E-mail Format</a:t>
            </a:r>
            <a:endParaRPr/>
          </a:p>
        </p:txBody>
      </p:sp>
      <p:pic>
        <p:nvPicPr>
          <p:cNvPr id="267" name="Picture 266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00" y="3017880"/>
            <a:ext cx="7221240" cy="2391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8381880" y="6400800"/>
            <a:ext cx="456840" cy="30456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CustomShape 2"/>
          <p:cNvSpPr/>
          <p:nvPr/>
        </p:nvSpPr>
        <p:spPr>
          <a:xfrm>
            <a:off x="762120" y="66600"/>
            <a:ext cx="8076600" cy="761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3200" b="1">
                <a:solidFill>
                  <a:srgbClr val="000099"/>
                </a:solidFill>
                <a:latin typeface="Arial Narrow"/>
              </a:rPr>
              <a:t>MIME - New header fields</a:t>
            </a:r>
            <a:endParaRPr/>
          </a:p>
        </p:txBody>
      </p:sp>
      <p:sp>
        <p:nvSpPr>
          <p:cNvPr id="270" name="CustomShape 3"/>
          <p:cNvSpPr/>
          <p:nvPr/>
        </p:nvSpPr>
        <p:spPr>
          <a:xfrm>
            <a:off x="762120" y="1066680"/>
            <a:ext cx="8076600" cy="5257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latin typeface="Arial Narrow"/>
              </a:rPr>
              <a:t>MIME-Version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latin typeface="Arial Narrow"/>
              </a:rPr>
              <a:t>Content-Type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describes the data contained in the body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receiving agent can pick an appropriate method to represent the content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Content-Transfer-Encoding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indicates the type of the transformation that has been used to represent the body of the message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Content-ID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Content-Description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description of the object in the body of the message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useful when content is not readable (e.g., audio data) </a:t>
            </a:r>
            <a:endParaRPr/>
          </a:p>
        </p:txBody>
      </p:sp>
      <p:sp>
        <p:nvSpPr>
          <p:cNvPr id="271" name="CustomShape 4"/>
          <p:cNvSpPr/>
          <p:nvPr/>
        </p:nvSpPr>
        <p:spPr>
          <a:xfrm rot="16200000">
            <a:off x="-798480" y="5381280"/>
            <a:ext cx="2439000" cy="367920"/>
          </a:xfrm>
          <a:prstGeom prst="rect">
            <a:avLst/>
          </a:prstGeom>
          <a:noFill/>
          <a:ln>
            <a:noFill/>
          </a:ln>
        </p:spPr>
        <p:txBody>
          <a:bodyPr wrap="none" lIns="46800" tIns="90000" rIns="46800" bIns="90000"/>
          <a:lstStyle/>
          <a:p>
            <a:pPr>
              <a:lnSpc>
                <a:spcPct val="100000"/>
              </a:lnSpc>
            </a:pPr>
            <a:r>
              <a:rPr lang="en-IN" b="1">
                <a:solidFill>
                  <a:srgbClr val="FFFF00"/>
                </a:solidFill>
                <a:latin typeface="Times New Roman"/>
              </a:rPr>
              <a:t>S/MIME / introduction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273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274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275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276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277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278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279" name="CustomShape 8"/>
          <p:cNvSpPr/>
          <p:nvPr/>
        </p:nvSpPr>
        <p:spPr>
          <a:xfrm>
            <a:off x="304920" y="1065240"/>
            <a:ext cx="8229240" cy="137268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/>
          <a:lstStyle/>
          <a:p>
            <a:pPr algn="just">
              <a:lnSpc>
                <a:spcPct val="100000"/>
              </a:lnSpc>
            </a:pPr>
            <a:r>
              <a:rPr lang="en-IN" sz="2800" b="1" i="1">
                <a:solidFill>
                  <a:srgbClr val="3333CC"/>
                </a:solidFill>
                <a:latin typeface="Times New Roman"/>
              </a:rPr>
              <a:t>MIME-Version</a:t>
            </a:r>
            <a:endParaRPr/>
          </a:p>
          <a:p>
            <a:pPr algn="just">
              <a:lnSpc>
                <a:spcPct val="100000"/>
              </a:lnSpc>
            </a:pPr>
            <a:r>
              <a:rPr lang="en-IN" sz="2800" b="1" i="1">
                <a:solidFill>
                  <a:srgbClr val="3333CC"/>
                </a:solidFill>
                <a:latin typeface="Times New Roman"/>
              </a:rPr>
              <a:t>This header defines the version of MIME used. The current version is 1.1.</a:t>
            </a:r>
            <a:endParaRPr/>
          </a:p>
        </p:txBody>
      </p:sp>
      <p:pic>
        <p:nvPicPr>
          <p:cNvPr id="280" name="Picture 279"/>
          <p:cNvPicPr/>
          <p:nvPr/>
        </p:nvPicPr>
        <p:blipFill>
          <a:blip r:embed="rId3"/>
          <a:stretch>
            <a:fillRect/>
          </a:stretch>
        </p:blipFill>
        <p:spPr>
          <a:xfrm>
            <a:off x="2992320" y="2362320"/>
            <a:ext cx="3159000" cy="1051920"/>
          </a:xfrm>
          <a:prstGeom prst="rect">
            <a:avLst/>
          </a:prstGeom>
          <a:ln>
            <a:noFill/>
          </a:ln>
        </p:spPr>
      </p:pic>
      <p:sp>
        <p:nvSpPr>
          <p:cNvPr id="281" name="CustomShape 9"/>
          <p:cNvSpPr/>
          <p:nvPr/>
        </p:nvSpPr>
        <p:spPr>
          <a:xfrm>
            <a:off x="304920" y="3638520"/>
            <a:ext cx="8229240" cy="180000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/>
          <a:lstStyle/>
          <a:p>
            <a:pPr algn="just">
              <a:lnSpc>
                <a:spcPct val="100000"/>
              </a:lnSpc>
            </a:pPr>
            <a:r>
              <a:rPr lang="en-IN" sz="2800" b="1" i="1">
                <a:solidFill>
                  <a:srgbClr val="3333CC"/>
                </a:solidFill>
                <a:latin typeface="Times New Roman"/>
              </a:rPr>
              <a:t>Content-Type</a:t>
            </a:r>
            <a:endParaRPr/>
          </a:p>
          <a:p>
            <a:pPr algn="just">
              <a:lnSpc>
                <a:spcPct val="100000"/>
              </a:lnSpc>
            </a:pPr>
            <a:r>
              <a:rPr lang="en-IN" sz="2800" b="1" i="1">
                <a:solidFill>
                  <a:srgbClr val="3333CC"/>
                </a:solidFill>
                <a:latin typeface="Times New Roman"/>
              </a:rPr>
              <a:t>The content type and the content subtype are separated by a slash. Depending on the subtype, the header may contain other parameters.</a:t>
            </a:r>
            <a:endParaRPr/>
          </a:p>
        </p:txBody>
      </p:sp>
      <p:pic>
        <p:nvPicPr>
          <p:cNvPr id="282" name="Picture 281"/>
          <p:cNvPicPr/>
          <p:nvPr/>
        </p:nvPicPr>
        <p:blipFill>
          <a:blip r:embed="rId4"/>
          <a:stretch>
            <a:fillRect/>
          </a:stretch>
        </p:blipFill>
        <p:spPr>
          <a:xfrm>
            <a:off x="1444680" y="5599080"/>
            <a:ext cx="6254280" cy="801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284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285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286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287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288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289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290" name="CustomShape 8"/>
          <p:cNvSpPr/>
          <p:nvPr/>
        </p:nvSpPr>
        <p:spPr>
          <a:xfrm>
            <a:off x="1143000" y="0"/>
            <a:ext cx="3173040" cy="580680"/>
          </a:xfrm>
          <a:prstGeom prst="rect">
            <a:avLst/>
          </a:prstGeom>
          <a:noFill/>
          <a:ln>
            <a:noFill/>
          </a:ln>
        </p:spPr>
      </p:sp>
      <p:pic>
        <p:nvPicPr>
          <p:cNvPr id="291" name="Picture 290"/>
          <p:cNvPicPr/>
          <p:nvPr/>
        </p:nvPicPr>
        <p:blipFill>
          <a:blip r:embed="rId3"/>
          <a:stretch>
            <a:fillRect/>
          </a:stretch>
        </p:blipFill>
        <p:spPr>
          <a:xfrm>
            <a:off x="468360" y="360360"/>
            <a:ext cx="8459280" cy="6192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8381880" y="6400800"/>
            <a:ext cx="456840" cy="30456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CustomShape 2"/>
          <p:cNvSpPr/>
          <p:nvPr/>
        </p:nvSpPr>
        <p:spPr>
          <a:xfrm>
            <a:off x="762120" y="66600"/>
            <a:ext cx="8076600" cy="761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3200" b="1">
                <a:solidFill>
                  <a:srgbClr val="000099"/>
                </a:solidFill>
                <a:latin typeface="Arial Narrow"/>
              </a:rPr>
              <a:t>MIME – Transfer encodings</a:t>
            </a:r>
            <a:endParaRPr/>
          </a:p>
        </p:txBody>
      </p:sp>
      <p:sp>
        <p:nvSpPr>
          <p:cNvPr id="294" name="CustomShape 3"/>
          <p:cNvSpPr/>
          <p:nvPr/>
        </p:nvSpPr>
        <p:spPr>
          <a:xfrm>
            <a:off x="762120" y="1066680"/>
            <a:ext cx="8076600" cy="5257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latin typeface="Arial Narrow"/>
              </a:rPr>
              <a:t>7bit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short lines of ASCII characters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8bit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short lines of non-ASCII characters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binary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non-ASCII characters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lines are not necessarily short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quoted-printable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non-ASCII characters are converted into hexa numbers 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IN" sz="2400" b="1">
                <a:solidFill>
                  <a:srgbClr val="000000"/>
                </a:solidFill>
                <a:latin typeface="Arial Narrow"/>
                <a:ea typeface="Droid Sans Fallback"/>
              </a:rPr>
              <a:t>base64 (radix 64)</a:t>
            </a:r>
            <a:endParaRPr/>
          </a:p>
          <a:p>
            <a:pPr lvl="1">
              <a:lnSpc>
                <a:spcPct val="100000"/>
              </a:lnSpc>
              <a:buFont typeface="Arial Narrow"/>
              <a:buChar char="–"/>
            </a:pPr>
            <a:r>
              <a:rPr lang="en-IN" sz="2000" b="1">
                <a:solidFill>
                  <a:srgbClr val="000000"/>
                </a:solidFill>
                <a:latin typeface="Arial Narrow"/>
                <a:ea typeface="Droid Sans Fallback"/>
              </a:rPr>
              <a:t>3 8-bit blocks into 4 6-bit blocks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295" name="CustomShape 4"/>
          <p:cNvSpPr/>
          <p:nvPr/>
        </p:nvSpPr>
        <p:spPr>
          <a:xfrm rot="16200000">
            <a:off x="-798480" y="5381280"/>
            <a:ext cx="2439000" cy="367920"/>
          </a:xfrm>
          <a:prstGeom prst="rect">
            <a:avLst/>
          </a:prstGeom>
          <a:noFill/>
          <a:ln>
            <a:noFill/>
          </a:ln>
        </p:spPr>
        <p:txBody>
          <a:bodyPr wrap="none" lIns="46800" tIns="90000" rIns="46800" bIns="90000"/>
          <a:lstStyle/>
          <a:p>
            <a:pPr>
              <a:lnSpc>
                <a:spcPct val="100000"/>
              </a:lnSpc>
            </a:pPr>
            <a:r>
              <a:rPr lang="en-IN" b="1">
                <a:solidFill>
                  <a:srgbClr val="FFFF00"/>
                </a:solidFill>
                <a:latin typeface="Times New Roman"/>
              </a:rPr>
              <a:t>S/MIME / introduction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297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298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299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00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01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02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03" name="CustomShape 8"/>
          <p:cNvSpPr/>
          <p:nvPr/>
        </p:nvSpPr>
        <p:spPr>
          <a:xfrm>
            <a:off x="2286000" y="838080"/>
            <a:ext cx="4127040" cy="45864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3333CC"/>
                </a:solidFill>
                <a:latin typeface="Times New Roman"/>
              </a:rPr>
              <a:t>  </a:t>
            </a:r>
            <a:r>
              <a:rPr lang="en-IN" sz="4000" b="1" i="1">
                <a:solidFill>
                  <a:srgbClr val="3333CC"/>
                </a:solidFill>
                <a:latin typeface="Times New Roman"/>
              </a:rPr>
              <a:t>Radix-64 conversion</a:t>
            </a:r>
            <a:endParaRPr/>
          </a:p>
        </p:txBody>
      </p:sp>
      <p:pic>
        <p:nvPicPr>
          <p:cNvPr id="304" name="Picture 303"/>
          <p:cNvPicPr/>
          <p:nvPr/>
        </p:nvPicPr>
        <p:blipFill>
          <a:blip r:embed="rId3"/>
          <a:stretch>
            <a:fillRect/>
          </a:stretch>
        </p:blipFill>
        <p:spPr>
          <a:xfrm>
            <a:off x="1330200" y="1990800"/>
            <a:ext cx="5832360" cy="4104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06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07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08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09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10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11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pic>
        <p:nvPicPr>
          <p:cNvPr id="312" name="Picture 311"/>
          <p:cNvPicPr/>
          <p:nvPr/>
        </p:nvPicPr>
        <p:blipFill>
          <a:blip r:embed="rId3"/>
          <a:stretch>
            <a:fillRect/>
          </a:stretch>
        </p:blipFill>
        <p:spPr>
          <a:xfrm>
            <a:off x="328680" y="1219320"/>
            <a:ext cx="8510040" cy="4773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14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15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16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17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18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19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20" name="CustomShape 8"/>
          <p:cNvSpPr/>
          <p:nvPr/>
        </p:nvSpPr>
        <p:spPr>
          <a:xfrm>
            <a:off x="2057400" y="1295280"/>
            <a:ext cx="3750840" cy="45864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rgbClr val="3333CC"/>
                </a:solidFill>
                <a:latin typeface="Times New Roman"/>
              </a:rPr>
              <a:t>  </a:t>
            </a:r>
            <a:r>
              <a:rPr lang="en-IN" sz="2800" b="1" i="1" dirty="0">
                <a:solidFill>
                  <a:srgbClr val="3333CC"/>
                </a:solidFill>
                <a:latin typeface="Times New Roman"/>
              </a:rPr>
              <a:t>Quoted-printable</a:t>
            </a:r>
            <a:endParaRPr dirty="0"/>
          </a:p>
        </p:txBody>
      </p:sp>
      <p:pic>
        <p:nvPicPr>
          <p:cNvPr id="321" name="Picture 320"/>
          <p:cNvPicPr/>
          <p:nvPr/>
        </p:nvPicPr>
        <p:blipFill>
          <a:blip r:embed="rId3"/>
          <a:stretch>
            <a:fillRect/>
          </a:stretch>
        </p:blipFill>
        <p:spPr>
          <a:xfrm>
            <a:off x="246240" y="2811600"/>
            <a:ext cx="8592480" cy="267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23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24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25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26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27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28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29" name="CustomShape 8"/>
          <p:cNvSpPr/>
          <p:nvPr/>
        </p:nvSpPr>
        <p:spPr>
          <a:xfrm>
            <a:off x="1143000" y="0"/>
            <a:ext cx="2896920" cy="5806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3200" b="1" i="1">
                <a:solidFill>
                  <a:srgbClr val="FF0000"/>
                </a:solidFill>
                <a:latin typeface="Times New Roman"/>
              </a:rPr>
              <a:t>  S/MIME</a:t>
            </a:r>
            <a:endParaRPr/>
          </a:p>
        </p:txBody>
      </p:sp>
      <p:sp>
        <p:nvSpPr>
          <p:cNvPr id="330" name="CustomShape 9"/>
          <p:cNvSpPr/>
          <p:nvPr/>
        </p:nvSpPr>
        <p:spPr>
          <a:xfrm>
            <a:off x="304920" y="990720"/>
            <a:ext cx="8229240" cy="222696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/>
          <a:lstStyle/>
          <a:p>
            <a:pPr algn="just">
              <a:lnSpc>
                <a:spcPct val="100000"/>
              </a:lnSpc>
            </a:pPr>
            <a:r>
              <a:rPr lang="en-IN" sz="2800" b="1" i="1">
                <a:latin typeface="Times New Roman"/>
              </a:rPr>
              <a:t>S/MIME adds some new content types to include security services to the MIME. All of these new types include the parameter “application/pkcs7-mime,” in which “pkcs” defines “</a:t>
            </a:r>
            <a:r>
              <a:rPr lang="en-IN" sz="2800" b="1" i="1">
                <a:solidFill>
                  <a:srgbClr val="FF0000"/>
                </a:solidFill>
                <a:latin typeface="Times New Roman"/>
              </a:rPr>
              <a:t>Public Key Cryptography Specification.”</a:t>
            </a:r>
            <a:endParaRPr/>
          </a:p>
        </p:txBody>
      </p:sp>
      <p:sp>
        <p:nvSpPr>
          <p:cNvPr id="331" name="CustomShape 10"/>
          <p:cNvSpPr/>
          <p:nvPr/>
        </p:nvSpPr>
        <p:spPr>
          <a:xfrm>
            <a:off x="304920" y="3505320"/>
            <a:ext cx="8229240" cy="307944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/>
          <a:lstStyle/>
          <a:p>
            <a:pPr algn="just">
              <a:lnSpc>
                <a:spcPct val="100000"/>
              </a:lnSpc>
            </a:pPr>
            <a:r>
              <a:rPr lang="en-IN" sz="2800" b="1" i="1">
                <a:solidFill>
                  <a:srgbClr val="3333CC"/>
                </a:solidFill>
                <a:latin typeface="Times New Roman"/>
              </a:rPr>
              <a:t>Cryptographic Message Syntax (CMS)</a:t>
            </a:r>
            <a:endParaRPr/>
          </a:p>
          <a:p>
            <a:pPr algn="just">
              <a:lnSpc>
                <a:spcPct val="100000"/>
              </a:lnSpc>
            </a:pPr>
            <a:r>
              <a:rPr lang="en-IN" sz="2800" b="1" i="1">
                <a:solidFill>
                  <a:srgbClr val="3333CC"/>
                </a:solidFill>
                <a:latin typeface="Times New Roman"/>
              </a:rPr>
              <a:t>To define how security services, such as confidentiality or integrity, can be added to MIME content types, S/MIME has defined Cryptographic Message Syntax (CMS). The syntax in each case defines the exact encoding scheme for each content type. For details, the reader is referred to </a:t>
            </a:r>
            <a:r>
              <a:rPr lang="en-IN" sz="2800" b="1" i="1">
                <a:solidFill>
                  <a:srgbClr val="FF0000"/>
                </a:solidFill>
                <a:latin typeface="Times New Roman"/>
              </a:rPr>
              <a:t>RFC 3369 and 3370.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S/MIME Functions</a:t>
            </a:r>
            <a:endParaRPr/>
          </a:p>
        </p:txBody>
      </p:sp>
      <p:sp>
        <p:nvSpPr>
          <p:cNvPr id="333" name="CustomShape 2"/>
          <p:cNvSpPr/>
          <p:nvPr/>
        </p:nvSpPr>
        <p:spPr>
          <a:xfrm>
            <a:off x="990720" y="175248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enveloped data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encrypted content and associated keys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signed data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encoded message + encoded signed message digest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clear-signed data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cleartext message + encoded signed message digest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authenticated  data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e</a:t>
            </a: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ncoded message + encoded signed message digest which is encrypted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35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36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37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38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39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40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41" name="CustomShape 8"/>
          <p:cNvSpPr/>
          <p:nvPr/>
        </p:nvSpPr>
        <p:spPr>
          <a:xfrm>
            <a:off x="2514600" y="533520"/>
            <a:ext cx="4924080" cy="4582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3333CC"/>
                </a:solidFill>
                <a:latin typeface="Times New Roman"/>
              </a:rPr>
              <a:t>  </a:t>
            </a:r>
            <a:r>
              <a:rPr lang="en-IN" sz="2800" b="1" i="1">
                <a:solidFill>
                  <a:srgbClr val="3333CC"/>
                </a:solidFill>
                <a:latin typeface="Times New Roman"/>
              </a:rPr>
              <a:t>Enveloped-data content type</a:t>
            </a:r>
            <a:endParaRPr/>
          </a:p>
        </p:txBody>
      </p:sp>
      <p:pic>
        <p:nvPicPr>
          <p:cNvPr id="342" name="Picture 341"/>
          <p:cNvPicPr/>
          <p:nvPr/>
        </p:nvPicPr>
        <p:blipFill>
          <a:blip r:embed="rId3"/>
          <a:stretch>
            <a:fillRect/>
          </a:stretch>
        </p:blipFill>
        <p:spPr>
          <a:xfrm>
            <a:off x="576360" y="1201680"/>
            <a:ext cx="8033760" cy="5530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EnvelopedData</a:t>
            </a:r>
            <a:endParaRPr/>
          </a:p>
        </p:txBody>
      </p:sp>
      <p:sp>
        <p:nvSpPr>
          <p:cNvPr id="344" name="CustomShape 2"/>
          <p:cNvSpPr/>
          <p:nvPr/>
        </p:nvSpPr>
        <p:spPr>
          <a:xfrm>
            <a:off x="762120" y="1600200"/>
            <a:ext cx="7772040" cy="4114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80000"/>
              <a:buFont typeface="Wingdings" charset="2"/>
              <a:buChar char=""/>
            </a:pPr>
            <a:r>
              <a:rPr lang="en-IN" sz="2800" dirty="0">
                <a:latin typeface="Arial"/>
              </a:rPr>
              <a:t>For message encryption</a:t>
            </a:r>
            <a:endParaRPr dirty="0"/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N" sz="2400" dirty="0">
                <a:solidFill>
                  <a:srgbClr val="000000"/>
                </a:solidFill>
                <a:latin typeface="Arial"/>
                <a:ea typeface="Droid Sans Fallback"/>
              </a:rPr>
              <a:t>create a random session key, encrypt the message with that key and a conventional crypto, encrypt the session key with recipient’s public key</a:t>
            </a:r>
          </a:p>
          <a:p>
            <a:pPr lvl="1">
              <a:lnSpc>
                <a:spcPct val="100000"/>
              </a:lnSpc>
              <a:buFont typeface="Arial"/>
              <a:buChar char="–"/>
            </a:pPr>
            <a:r>
              <a:rPr lang="en-IN" sz="2400" dirty="0">
                <a:solidFill>
                  <a:srgbClr val="000000"/>
                </a:solidFill>
                <a:latin typeface="Arial"/>
                <a:ea typeface="Droid Sans Fallback"/>
              </a:rPr>
              <a:t>recipient’s  public key comes from an X.509 certificate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46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47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48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49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50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51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52" name="CustomShape 8"/>
          <p:cNvSpPr/>
          <p:nvPr/>
        </p:nvSpPr>
        <p:spPr>
          <a:xfrm>
            <a:off x="1981080" y="685800"/>
            <a:ext cx="4543200" cy="4582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3333CC"/>
                </a:solidFill>
                <a:latin typeface="Times New Roman"/>
              </a:rPr>
              <a:t>  </a:t>
            </a:r>
            <a:r>
              <a:rPr lang="en-IN" sz="2000" b="1" i="1">
                <a:solidFill>
                  <a:srgbClr val="3333CC"/>
                </a:solidFill>
                <a:latin typeface="Times New Roman"/>
              </a:rPr>
              <a:t>Signed-data content type</a:t>
            </a:r>
            <a:endParaRPr/>
          </a:p>
        </p:txBody>
      </p:sp>
      <p:pic>
        <p:nvPicPr>
          <p:cNvPr id="353" name="Picture 352"/>
          <p:cNvPicPr/>
          <p:nvPr/>
        </p:nvPicPr>
        <p:blipFill>
          <a:blip r:embed="rId3"/>
          <a:stretch>
            <a:fillRect/>
          </a:stretch>
        </p:blipFill>
        <p:spPr>
          <a:xfrm>
            <a:off x="785880" y="1797120"/>
            <a:ext cx="7595640" cy="4908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CustomShape 1"/>
          <p:cNvSpPr/>
          <p:nvPr/>
        </p:nvSpPr>
        <p:spPr>
          <a:xfrm>
            <a:off x="1173240" y="45720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SignedData</a:t>
            </a:r>
            <a:endParaRPr/>
          </a:p>
        </p:txBody>
      </p:sp>
      <p:sp>
        <p:nvSpPr>
          <p:cNvPr id="355" name="CustomShape 2"/>
          <p:cNvSpPr/>
          <p:nvPr/>
        </p:nvSpPr>
        <p:spPr>
          <a:xfrm>
            <a:off x="685800" y="1600200"/>
            <a:ext cx="7924320" cy="4190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For signed message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both message and signature are  encoded so that the recipient only sees some ASCII characters if he does not use an email client with S/MIME support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Similar to PGP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first message is hashed, then the hash is encrypted using sender’s private key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Message, signature, identifiers of algorithms and the sender’s certificate are packed together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again difference between S/MIME and PGP in trust management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57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58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59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60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61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62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63" name="CustomShape 8"/>
          <p:cNvSpPr/>
          <p:nvPr/>
        </p:nvSpPr>
        <p:spPr>
          <a:xfrm>
            <a:off x="2286000" y="914400"/>
            <a:ext cx="4485960" cy="4582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3333CC"/>
                </a:solidFill>
                <a:latin typeface="Times New Roman"/>
              </a:rPr>
              <a:t> </a:t>
            </a:r>
            <a:r>
              <a:rPr lang="en-IN" sz="2800" b="1">
                <a:solidFill>
                  <a:srgbClr val="3333CC"/>
                </a:solidFill>
                <a:latin typeface="Arial"/>
              </a:rPr>
              <a:t>clear-signed data</a:t>
            </a:r>
            <a:r>
              <a:rPr lang="en-IN" sz="2000" b="1" i="1">
                <a:solidFill>
                  <a:srgbClr val="3333CC"/>
                </a:solidFill>
                <a:latin typeface="Times New Roman"/>
              </a:rPr>
              <a:t> </a:t>
            </a:r>
            <a:r>
              <a:rPr lang="en-IN" sz="2800" b="1" i="1">
                <a:solidFill>
                  <a:srgbClr val="3333CC"/>
                </a:solidFill>
                <a:latin typeface="Times New Roman"/>
              </a:rPr>
              <a:t>content type</a:t>
            </a:r>
            <a:endParaRPr/>
          </a:p>
        </p:txBody>
      </p:sp>
      <p:pic>
        <p:nvPicPr>
          <p:cNvPr id="364" name="Picture 363"/>
          <p:cNvPicPr/>
          <p:nvPr/>
        </p:nvPicPr>
        <p:blipFill>
          <a:blip r:embed="rId3"/>
          <a:stretch>
            <a:fillRect/>
          </a:stretch>
        </p:blipFill>
        <p:spPr>
          <a:xfrm>
            <a:off x="88920" y="2705040"/>
            <a:ext cx="8902440" cy="3695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1"/>
          <p:cNvSpPr/>
          <p:nvPr/>
        </p:nvSpPr>
        <p:spPr>
          <a:xfrm>
            <a:off x="838080" y="3808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Clear Signing</a:t>
            </a:r>
            <a:endParaRPr/>
          </a:p>
        </p:txBody>
      </p:sp>
      <p:sp>
        <p:nvSpPr>
          <p:cNvPr id="366" name="CustomShape 2"/>
          <p:cNvSpPr/>
          <p:nvPr/>
        </p:nvSpPr>
        <p:spPr>
          <a:xfrm>
            <a:off x="762120" y="1447920"/>
            <a:ext cx="8000640" cy="4876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 dirty="0">
                <a:latin typeface="Arial"/>
              </a:rPr>
              <a:t>Another mechanism for signature</a:t>
            </a:r>
            <a:endParaRPr dirty="0"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 dirty="0">
                <a:solidFill>
                  <a:srgbClr val="000000"/>
                </a:solidFill>
                <a:latin typeface="Arial"/>
                <a:ea typeface="Droid Sans Fallback"/>
              </a:rPr>
              <a:t>but the message is not encoded, so an email client with no S/MIME support could also view the message</a:t>
            </a:r>
            <a:endParaRPr dirty="0"/>
          </a:p>
          <a:p>
            <a:pPr lvl="2">
              <a:lnSpc>
                <a:spcPct val="90000"/>
              </a:lnSpc>
              <a:buFont typeface="Arial"/>
              <a:buChar char="•"/>
            </a:pPr>
            <a:r>
              <a:rPr lang="en-IN" sz="2400" dirty="0">
                <a:solidFill>
                  <a:srgbClr val="000000"/>
                </a:solidFill>
                <a:latin typeface="Arial"/>
                <a:ea typeface="Droid Sans Fallback"/>
              </a:rPr>
              <a:t>of course the signature will not be verified and will be seen as a meaningless attachment</a:t>
            </a:r>
            <a:endParaRPr dirty="0"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3200" dirty="0">
                <a:solidFill>
                  <a:srgbClr val="000000"/>
                </a:solidFill>
                <a:latin typeface="Arial"/>
                <a:ea typeface="Droid Sans Fallback"/>
              </a:rPr>
              <a:t>multipart/signed content type</a:t>
            </a:r>
            <a:endParaRPr dirty="0"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800" dirty="0">
                <a:solidFill>
                  <a:srgbClr val="000000"/>
                </a:solidFill>
                <a:latin typeface="Arial"/>
                <a:ea typeface="Droid Sans Fallback"/>
              </a:rPr>
              <a:t>2 parts</a:t>
            </a:r>
            <a:endParaRPr dirty="0"/>
          </a:p>
          <a:p>
            <a:pPr lvl="2">
              <a:lnSpc>
                <a:spcPct val="90000"/>
              </a:lnSpc>
              <a:buFont typeface="Arial"/>
              <a:buChar char="•"/>
            </a:pPr>
            <a:r>
              <a:rPr lang="en-IN" sz="2400" dirty="0">
                <a:solidFill>
                  <a:srgbClr val="000000"/>
                </a:solidFill>
                <a:latin typeface="Arial"/>
                <a:ea typeface="Droid Sans Fallback"/>
              </a:rPr>
              <a:t>Clear text message</a:t>
            </a:r>
            <a:endParaRPr dirty="0"/>
          </a:p>
          <a:p>
            <a:pPr lvl="2">
              <a:lnSpc>
                <a:spcPct val="90000"/>
              </a:lnSpc>
              <a:buFont typeface="Arial"/>
              <a:buChar char="•"/>
            </a:pPr>
            <a:r>
              <a:rPr lang="en-IN" sz="2400" dirty="0">
                <a:solidFill>
                  <a:srgbClr val="000000"/>
                </a:solidFill>
                <a:latin typeface="Arial"/>
                <a:ea typeface="Droid Sans Fallback"/>
              </a:rPr>
              <a:t>Signature</a:t>
            </a:r>
            <a:endParaRPr dirty="0"/>
          </a:p>
          <a:p>
            <a:pPr>
              <a:lnSpc>
                <a:spcPct val="90000"/>
              </a:lnSpc>
            </a:pPr>
            <a:endParaRPr dirty="0"/>
          </a:p>
          <a:p>
            <a:pPr>
              <a:lnSpc>
                <a:spcPct val="900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68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69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70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71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72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73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74" name="CustomShape 8"/>
          <p:cNvSpPr/>
          <p:nvPr/>
        </p:nvSpPr>
        <p:spPr>
          <a:xfrm>
            <a:off x="981000" y="620640"/>
            <a:ext cx="5289120" cy="45864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3333CC"/>
                </a:solidFill>
                <a:latin typeface="Times New Roman"/>
              </a:rPr>
              <a:t>  </a:t>
            </a:r>
            <a:r>
              <a:rPr lang="en-IN" sz="2800" b="1" i="1">
                <a:solidFill>
                  <a:srgbClr val="3333CC"/>
                </a:solidFill>
                <a:latin typeface="Times New Roman"/>
              </a:rPr>
              <a:t>Authenticated-data content type</a:t>
            </a:r>
            <a:endParaRPr/>
          </a:p>
        </p:txBody>
      </p:sp>
      <p:pic>
        <p:nvPicPr>
          <p:cNvPr id="375" name="Picture 374"/>
          <p:cNvPicPr/>
          <p:nvPr/>
        </p:nvPicPr>
        <p:blipFill>
          <a:blip r:embed="rId3"/>
          <a:stretch>
            <a:fillRect/>
          </a:stretch>
        </p:blipFill>
        <p:spPr>
          <a:xfrm>
            <a:off x="1219320" y="1219320"/>
            <a:ext cx="6790680" cy="5444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77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78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79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80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81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82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83" name="CustomShape 8"/>
          <p:cNvSpPr/>
          <p:nvPr/>
        </p:nvSpPr>
        <p:spPr>
          <a:xfrm>
            <a:off x="1228320" y="79200"/>
            <a:ext cx="7708290" cy="180000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/>
          <a:lstStyle/>
          <a:p>
            <a:pPr algn="just">
              <a:lnSpc>
                <a:spcPct val="100000"/>
              </a:lnSpc>
            </a:pPr>
            <a:r>
              <a:rPr lang="en-IN" sz="2800" b="1" i="1" dirty="0">
                <a:solidFill>
                  <a:srgbClr val="3333CC"/>
                </a:solidFill>
                <a:latin typeface="Times New Roman"/>
              </a:rPr>
              <a:t>Cryptographic Algorithms</a:t>
            </a:r>
            <a:endParaRPr dirty="0"/>
          </a:p>
          <a:p>
            <a:pPr algn="just">
              <a:lnSpc>
                <a:spcPct val="100000"/>
              </a:lnSpc>
            </a:pPr>
            <a:r>
              <a:rPr lang="en-IN" sz="2800" b="1" i="1" dirty="0">
                <a:solidFill>
                  <a:srgbClr val="3333CC"/>
                </a:solidFill>
                <a:latin typeface="Times New Roman"/>
              </a:rPr>
              <a:t>S/MIME defines several cryptographic algorithms. The term “</a:t>
            </a:r>
            <a:r>
              <a:rPr lang="en-IN" sz="2800" b="1" i="1" dirty="0">
                <a:solidFill>
                  <a:srgbClr val="FF0000"/>
                </a:solidFill>
                <a:latin typeface="Times New Roman"/>
              </a:rPr>
              <a:t>must</a:t>
            </a:r>
            <a:r>
              <a:rPr lang="en-IN" sz="2800" b="1" i="1" dirty="0">
                <a:solidFill>
                  <a:srgbClr val="0070C0"/>
                </a:solidFill>
                <a:latin typeface="Times New Roman"/>
              </a:rPr>
              <a:t>”</a:t>
            </a:r>
            <a:r>
              <a:rPr lang="en-IN" sz="2800" b="1" i="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en-IN" sz="2800" b="1" i="1" dirty="0">
                <a:solidFill>
                  <a:srgbClr val="3333CC"/>
                </a:solidFill>
                <a:latin typeface="Times New Roman"/>
              </a:rPr>
              <a:t>means an absolute requirement; the term “</a:t>
            </a:r>
            <a:r>
              <a:rPr lang="en-IN" sz="2800" b="1" i="1" dirty="0">
                <a:solidFill>
                  <a:srgbClr val="FF0000"/>
                </a:solidFill>
                <a:latin typeface="Times New Roman"/>
              </a:rPr>
              <a:t>should</a:t>
            </a:r>
            <a:r>
              <a:rPr lang="en-IN" sz="2800" b="1" i="1" dirty="0">
                <a:solidFill>
                  <a:srgbClr val="3333CC"/>
                </a:solidFill>
                <a:latin typeface="Times New Roman"/>
              </a:rPr>
              <a:t>” means a recommendation.</a:t>
            </a:r>
            <a:endParaRPr sz="2800" b="1" i="1" dirty="0">
              <a:solidFill>
                <a:srgbClr val="3333CC"/>
              </a:solidFill>
              <a:latin typeface="Times New Roman"/>
            </a:endParaRPr>
          </a:p>
        </p:txBody>
      </p:sp>
      <p:pic>
        <p:nvPicPr>
          <p:cNvPr id="384" name="Picture 383"/>
          <p:cNvPicPr/>
          <p:nvPr/>
        </p:nvPicPr>
        <p:blipFill>
          <a:blip r:embed="rId3"/>
          <a:stretch>
            <a:fillRect/>
          </a:stretch>
        </p:blipFill>
        <p:spPr>
          <a:xfrm>
            <a:off x="453960" y="2087640"/>
            <a:ext cx="8329320" cy="4389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CustomShape 1"/>
          <p:cNvSpPr/>
          <p:nvPr/>
        </p:nvSpPr>
        <p:spPr>
          <a:xfrm>
            <a:off x="366840" y="108000"/>
            <a:ext cx="437760" cy="474120"/>
          </a:xfrm>
          <a:prstGeom prst="rect">
            <a:avLst/>
          </a:prstGeom>
          <a:solidFill>
            <a:srgbClr val="FFCF01"/>
          </a:solidFill>
          <a:ln>
            <a:noFill/>
          </a:ln>
        </p:spPr>
      </p:sp>
      <p:sp>
        <p:nvSpPr>
          <p:cNvPr id="386" name="CustomShape 2"/>
          <p:cNvSpPr/>
          <p:nvPr/>
        </p:nvSpPr>
        <p:spPr>
          <a:xfrm>
            <a:off x="749160" y="108000"/>
            <a:ext cx="3283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/>
          </a:gradFill>
          <a:ln>
            <a:noFill/>
          </a:ln>
        </p:spPr>
      </p:sp>
      <p:sp>
        <p:nvSpPr>
          <p:cNvPr id="387" name="CustomShape 3"/>
          <p:cNvSpPr/>
          <p:nvPr/>
        </p:nvSpPr>
        <p:spPr>
          <a:xfrm>
            <a:off x="490680" y="530280"/>
            <a:ext cx="421920" cy="474120"/>
          </a:xfrm>
          <a:prstGeom prst="rect">
            <a:avLst/>
          </a:prstGeom>
          <a:solidFill>
            <a:srgbClr val="3333CC"/>
          </a:solidFill>
          <a:ln>
            <a:noFill/>
          </a:ln>
        </p:spPr>
      </p:sp>
      <p:sp>
        <p:nvSpPr>
          <p:cNvPr id="388" name="CustomShape 4"/>
          <p:cNvSpPr/>
          <p:nvPr/>
        </p:nvSpPr>
        <p:spPr>
          <a:xfrm>
            <a:off x="860400" y="530280"/>
            <a:ext cx="367920" cy="4741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/>
          </a:gradFill>
          <a:ln>
            <a:noFill/>
          </a:ln>
        </p:spPr>
      </p:sp>
      <p:sp>
        <p:nvSpPr>
          <p:cNvPr id="389" name="CustomShape 5"/>
          <p:cNvSpPr/>
          <p:nvPr/>
        </p:nvSpPr>
        <p:spPr>
          <a:xfrm>
            <a:off x="76320" y="457200"/>
            <a:ext cx="559800" cy="42192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/>
          </a:gradFill>
          <a:ln>
            <a:noFill/>
          </a:ln>
        </p:spPr>
      </p:sp>
      <p:sp>
        <p:nvSpPr>
          <p:cNvPr id="390" name="CustomShape 6"/>
          <p:cNvSpPr/>
          <p:nvPr/>
        </p:nvSpPr>
        <p:spPr>
          <a:xfrm>
            <a:off x="711360" y="0"/>
            <a:ext cx="31320" cy="105228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91" name="CustomShape 7"/>
          <p:cNvSpPr/>
          <p:nvPr/>
        </p:nvSpPr>
        <p:spPr>
          <a:xfrm>
            <a:off x="442800" y="533520"/>
            <a:ext cx="8226000" cy="313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/>
          </a:gradFill>
          <a:ln>
            <a:noFill/>
          </a:ln>
        </p:spPr>
      </p:sp>
      <p:sp>
        <p:nvSpPr>
          <p:cNvPr id="392" name="CustomShape 8"/>
          <p:cNvSpPr/>
          <p:nvPr/>
        </p:nvSpPr>
        <p:spPr>
          <a:xfrm>
            <a:off x="152280" y="1506600"/>
            <a:ext cx="8839080" cy="82512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/>
          <a:lstStyle/>
          <a:p>
            <a:pPr algn="just">
              <a:lnSpc>
                <a:spcPct val="100000"/>
              </a:lnSpc>
            </a:pPr>
            <a:r>
              <a:rPr lang="en-IN" sz="2400" b="1">
                <a:latin typeface="Times New Roman"/>
              </a:rPr>
              <a:t>The following shows an example of an enveloped-data in which a small message is encrypted using triple DES.</a:t>
            </a:r>
            <a:endParaRPr/>
          </a:p>
        </p:txBody>
      </p:sp>
      <p:sp>
        <p:nvSpPr>
          <p:cNvPr id="393" name="CustomShape 9"/>
          <p:cNvSpPr/>
          <p:nvPr/>
        </p:nvSpPr>
        <p:spPr>
          <a:xfrm>
            <a:off x="1179360" y="533520"/>
            <a:ext cx="1941480" cy="45828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2400" b="1">
                <a:solidFill>
                  <a:srgbClr val="FFFFFF"/>
                </a:solidFill>
                <a:latin typeface="Times New Roman"/>
              </a:rPr>
              <a:t>Example 16.3</a:t>
            </a:r>
            <a:endParaRPr/>
          </a:p>
        </p:txBody>
      </p:sp>
      <p:pic>
        <p:nvPicPr>
          <p:cNvPr id="394" name="Picture 393"/>
          <p:cNvPicPr/>
          <p:nvPr/>
        </p:nvPicPr>
        <p:blipFill>
          <a:blip r:embed="rId3"/>
          <a:stretch>
            <a:fillRect/>
          </a:stretch>
        </p:blipFill>
        <p:spPr>
          <a:xfrm>
            <a:off x="73080" y="2784600"/>
            <a:ext cx="8994240" cy="2167920"/>
          </a:xfrm>
          <a:prstGeom prst="rect">
            <a:avLst/>
          </a:prstGeom>
          <a:ln>
            <a:noFill/>
          </a:ln>
        </p:spPr>
      </p:pic>
      <p:sp>
        <p:nvSpPr>
          <p:cNvPr id="395" name="CustomShape 10"/>
          <p:cNvSpPr/>
          <p:nvPr/>
        </p:nvSpPr>
        <p:spPr>
          <a:xfrm>
            <a:off x="1368360" y="123840"/>
            <a:ext cx="6100560" cy="329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000099"/>
                </a:solidFill>
                <a:latin typeface="Arial Narrow"/>
              </a:rPr>
              <a:t>        Enveloped data – Example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8381880" y="6400800"/>
            <a:ext cx="456840" cy="30456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CustomShape 2"/>
          <p:cNvSpPr/>
          <p:nvPr/>
        </p:nvSpPr>
        <p:spPr>
          <a:xfrm>
            <a:off x="762120" y="66600"/>
            <a:ext cx="8076600" cy="761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3200" b="1">
                <a:solidFill>
                  <a:srgbClr val="000099"/>
                </a:solidFill>
                <a:latin typeface="Arial Narrow"/>
              </a:rPr>
              <a:t>Clear-signed data – Example </a:t>
            </a:r>
            <a:endParaRPr/>
          </a:p>
        </p:txBody>
      </p:sp>
      <p:sp>
        <p:nvSpPr>
          <p:cNvPr id="398" name="CustomShape 3"/>
          <p:cNvSpPr/>
          <p:nvPr/>
        </p:nvSpPr>
        <p:spPr>
          <a:xfrm>
            <a:off x="812880" y="1170000"/>
            <a:ext cx="6326640" cy="496080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/>
          <a:lstStyle/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Content-Type: multipart/signed; protocol="application/pkcs7-signature";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  micalg=sha1; boundary=boundary42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--boundary42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Content-Type: text/plain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This is a clear-signed message.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--boundary42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Content-Type: application/pkcs7-signature; name=smime.p7s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Content-Transfer-Encoding: base64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Content-Disposition: attachment; filename=smime.p7s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ghyHhHUujhJhjH77n8HHGTrfvbnj756tbB9HG4VQpfyF467GhIGfHfYT6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4VQpfyF467GhIGfHfYT6jH77n8HHGghyHhHUujhJh756tbB9HGTrfvbnj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n8HHGTrfvhJhjH776tbB9HG4VQbnj7567GhIGfHfYT6ghyHhHUujpfyF4</a:t>
            </a: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7GhIGfHfYT64VQbnj756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1600">
                <a:latin typeface="Times New Roman"/>
              </a:rPr>
              <a:t>--boundary42--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399" name="CustomShape 4"/>
          <p:cNvSpPr/>
          <p:nvPr/>
        </p:nvSpPr>
        <p:spPr>
          <a:xfrm rot="16200000">
            <a:off x="-997920" y="5175360"/>
            <a:ext cx="2844360" cy="367920"/>
          </a:xfrm>
          <a:prstGeom prst="rect">
            <a:avLst/>
          </a:prstGeom>
          <a:noFill/>
          <a:ln>
            <a:noFill/>
          </a:ln>
        </p:spPr>
        <p:txBody>
          <a:bodyPr wrap="none" lIns="46800" tIns="90000" rIns="46800" bIns="90000"/>
          <a:lstStyle/>
          <a:p>
            <a:pPr>
              <a:lnSpc>
                <a:spcPct val="100000"/>
              </a:lnSpc>
            </a:pPr>
            <a:r>
              <a:rPr lang="en-IN" b="1">
                <a:solidFill>
                  <a:srgbClr val="FFFF00"/>
                </a:solidFill>
                <a:latin typeface="Times New Roman"/>
              </a:rPr>
              <a:t>S/MIME / message formats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ustomShape 1"/>
          <p:cNvSpPr/>
          <p:nvPr/>
        </p:nvSpPr>
        <p:spPr>
          <a:xfrm>
            <a:off x="609480" y="304920"/>
            <a:ext cx="7772040" cy="685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IN" sz="4400">
                <a:solidFill>
                  <a:srgbClr val="003366"/>
                </a:solidFill>
                <a:latin typeface="Times New Roman"/>
              </a:rPr>
              <a:t>S/MIME Certificate Processing</a:t>
            </a:r>
            <a:endParaRPr/>
          </a:p>
        </p:txBody>
      </p:sp>
      <p:sp>
        <p:nvSpPr>
          <p:cNvPr id="401" name="CustomShape 2"/>
          <p:cNvSpPr/>
          <p:nvPr/>
        </p:nvSpPr>
        <p:spPr>
          <a:xfrm>
            <a:off x="571680" y="1143000"/>
            <a:ext cx="7881480" cy="4190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latin typeface="Arial"/>
              </a:rPr>
              <a:t>S/MIME uses X.509 v3 certificates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Certification Authorities (CAs) issue certificates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unlike PGP, a user cannot be a CA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each client has a list of trusted CA certificates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IN" sz="2400">
                <a:solidFill>
                  <a:srgbClr val="000000"/>
                </a:solidFill>
                <a:latin typeface="Arial"/>
                <a:ea typeface="Droid Sans Fallback"/>
              </a:rPr>
              <a:t>actually that list comes with e-mail client software or OS </a:t>
            </a:r>
            <a:r>
              <a:rPr lang="en-IN" sz="2800">
                <a:solidFill>
                  <a:srgbClr val="000000"/>
                </a:solidFill>
                <a:latin typeface="Arial"/>
                <a:ea typeface="Droid Sans Fallback"/>
              </a:rPr>
              <a:t>and own public/private key pairs and certs</a:t>
            </a:r>
            <a:endParaRPr/>
          </a:p>
          <a:p>
            <a:pPr>
              <a:lnSpc>
                <a:spcPct val="90000"/>
              </a:lnSpc>
              <a:buSzPct val="80000"/>
              <a:buFont typeface="Wingdings" charset="2"/>
              <a:buChar char="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1041</Words>
  <Application>Microsoft Office PowerPoint</Application>
  <PresentationFormat>On-screen Show (4:3)</PresentationFormat>
  <Paragraphs>152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Narrow</vt:lpstr>
      <vt:lpstr>StarSymbol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Nagaveni Hebbar</dc:creator>
  <cp:lastModifiedBy>Nagaveni Hebbar</cp:lastModifiedBy>
  <cp:revision>2</cp:revision>
  <dcterms:modified xsi:type="dcterms:W3CDTF">2024-10-07T18:26:03Z</dcterms:modified>
</cp:coreProperties>
</file>